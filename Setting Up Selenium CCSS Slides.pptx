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82" r:id="rId3"/>
    <p:sldId id="274" r:id="rId4"/>
    <p:sldId id="285" r:id="rId5"/>
    <p:sldId id="2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48"/>
  </p:normalViewPr>
  <p:slideViewPr>
    <p:cSldViewPr snapToGrid="0">
      <p:cViewPr varScale="1">
        <p:scale>
          <a:sx n="106" d="100"/>
          <a:sy n="106" d="100"/>
        </p:scale>
        <p:origin x="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17E52-1347-BF49-ABFD-4C2A065DC722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A7967-0C81-F84D-8708-6739F40BC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6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bcd4f08874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bcd4f088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A870-4CF1-DE82-F62C-B181E7B5A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96DE6-932C-3CDB-30BF-502A669B1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DD54A-A0D8-69BC-F759-51C32BE6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BDF5-E22D-F7F9-5C18-236A1B0F0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6EF33-7ED4-F4B8-8017-4C1245C0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8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F95C-61BE-00B4-918F-7E2E914C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A5414-E85B-8492-F9D3-D55DC60F9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9A7A-D018-7DA0-3F23-EBC02080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C2009-56D3-D17C-2692-D5C955BA4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05942-BD4D-C653-1CDA-8CE67207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1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EF46-D0C5-DF9B-1125-A188F0B8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D4C5-ED71-F358-F364-74E4B2881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B7ED5-786F-A322-88FF-C95900BA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D60D-79BF-E429-111D-9B1F0D74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4126B-AB8D-9868-6754-70BFF6A6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5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E588-73D2-79BA-DF29-2C32306F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FCF4-77A4-F358-A5C6-D805696AD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9A5DF-ACCF-2A33-1440-739B791DA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06AF4-9A6D-AD71-A46C-8CA23F1B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920FF-620A-8C69-331C-D7EE8B66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A6A61-AF8F-5F3D-FDF6-C308AE65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4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0090-EAD5-8B53-2241-21807C86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EEB72-7A2B-0980-C1E2-F0A37ED76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7AFF3-3F40-DB0F-4A40-B46113972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BC54B-1148-C4FA-5000-8E538861C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BB4F-46D9-F67A-F33E-D08E87A12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692D1-3A2A-704E-47AF-C86A4F5A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4803B-8FC4-1F0D-8135-353435BD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C3B1A-4928-829F-26D5-C6728EA5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9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9C6F-1D94-4E9E-81A7-24A056AE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D57CD-92BB-818E-D73F-EE7CF6DB3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D855A-6A47-7D29-C4B9-26B5EFC3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686CA-C248-5461-7725-1DEE10C0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4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9C716-6D86-DA4A-F4FD-3779BB37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05136-0298-440A-1414-9D6049DE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A2593-A71A-B485-CCB9-6E79F01C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1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623E-B4DA-56DD-C6CF-56ACF585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51B4-3EE8-8A9E-23C5-A1E8922D5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5F6CB-645D-F0C9-DB81-739EDD4C9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CCBBB-DE9E-FD75-E31B-9AD7BC43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B9713-A6FA-3439-E4CA-3606C253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86A84-ED22-6554-A001-7C8EE98F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6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4F9B-E3BC-6CDD-2343-7DA57376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EF30E-5A3C-45B5-7EE5-96949A144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F041-14B5-B8B3-1ED1-BA7FC0406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CD0EE-F624-1E6C-9410-3DE7DCE1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D2951-FCBC-E558-E73A-E49D3F33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15D98-75F7-6C0A-FE99-364B36AA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0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3924-851C-319F-DB54-522AE62C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4D3C1-7699-ABA9-30C1-C412A6745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F1640-578C-FEA9-7138-825357F6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3A779-BBF3-5EF5-6E17-AEBA5C6B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053A3-5448-4369-DF47-8975F45F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4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DAAD3-B1F0-4E6B-A044-2F9922F5D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9CC0-AE3E-A067-D3F8-5D36D8C3A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7D846-D2FD-4122-9969-1FA7B8D4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0D345-755A-231A-8619-BAC22C4D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B39E1-F984-35CC-C186-04FAB0AA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74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0"/>
            <a:ext cx="12192000" cy="2223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8" name="Google Shape;58;p13" descr="cu white lrg.psd"/>
          <p:cNvPicPr preferRelativeResize="0"/>
          <p:nvPr/>
        </p:nvPicPr>
        <p:blipFill rotWithShape="1">
          <a:blip r:embed="rId2">
            <a:alphaModFix/>
          </a:blip>
          <a:srcRect l="29545" r="-704"/>
          <a:stretch/>
        </p:blipFill>
        <p:spPr>
          <a:xfrm>
            <a:off x="5162102" y="-157024"/>
            <a:ext cx="1826746" cy="5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81000" y="1752600"/>
            <a:ext cx="11571900" cy="3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81000" y="1066800"/>
            <a:ext cx="11570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Helvetica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343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510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3A5CB-E33D-3158-C40B-4FD783AF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69D1-E941-926F-9DD3-DC8058F0C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D373D-1681-CF4C-AEA5-10D89F0B4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50F60-9ABD-764A-BF03-5D2BEA998DD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774B5-9871-D127-55B7-6E64B43CD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AF471-8566-2F80-7D14-9FF18C652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0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chrome/" TargetMode="External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jgrips9/CCSS_Selenium_Setup_Web_Scraping" TargetMode="External"/><Relationship Id="rId4" Type="http://schemas.openxmlformats.org/officeDocument/2006/relationships/hyperlink" Target="https://googlechromelabs.github.io/chrome-for-testin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grips9/CCSS_Selenium_Setup_Web_Scrap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457200"/>
            <a:ext cx="3429007" cy="8229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48575" y="2690950"/>
            <a:ext cx="11610525" cy="120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lang="en-US" dirty="0"/>
              <a:t>Setting Up Selenium for Web Scraping in Python or R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05700" y="4167050"/>
            <a:ext cx="8101800" cy="21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688"/>
              <a:buNone/>
            </a:pPr>
            <a:r>
              <a:rPr lang="en-US" sz="1600" dirty="0">
                <a:latin typeface="Verdana"/>
                <a:ea typeface="Verdana"/>
                <a:cs typeface="Verdana"/>
                <a:sym typeface="Verdana"/>
              </a:rPr>
              <a:t>	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BF97-0873-2C06-77EF-658C6FAD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7B5ED-E23E-F3EB-2890-E5F44B9C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50" y="412312"/>
            <a:ext cx="115701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590A1-B166-D0C5-9BE0-C5A968B33A28}"/>
              </a:ext>
            </a:extLst>
          </p:cNvPr>
          <p:cNvSpPr txBox="1"/>
          <p:nvPr/>
        </p:nvSpPr>
        <p:spPr>
          <a:xfrm>
            <a:off x="589547" y="1242491"/>
            <a:ext cx="1115327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Selenium 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Install Java. Add to path.  </a:t>
            </a:r>
            <a:r>
              <a:rPr lang="en-US" sz="2400" dirty="0">
                <a:hlinkClick r:id="rId2"/>
              </a:rPr>
              <a:t>https://www.oracle.com/java/technologies/downloads/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Install Chrome. </a:t>
            </a:r>
            <a:r>
              <a:rPr lang="en-US" sz="2400" dirty="0">
                <a:hlinkClick r:id="rId3"/>
              </a:rPr>
              <a:t>https://www.google.com/chrome/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Download </a:t>
            </a:r>
            <a:r>
              <a:rPr lang="en-US" sz="2400" dirty="0" err="1"/>
              <a:t>Chromedriver</a:t>
            </a:r>
            <a:r>
              <a:rPr lang="en-US" sz="2400" dirty="0"/>
              <a:t> of the proper version of Chrome. </a:t>
            </a:r>
            <a:r>
              <a:rPr lang="en-US" sz="2400" dirty="0">
                <a:hlinkClick r:id="rId4"/>
              </a:rPr>
              <a:t>https://googlechromelabs.github.io/chrome-for-testing/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Get setup. Sample code and instructions in </a:t>
            </a:r>
            <a:r>
              <a:rPr lang="en-US" sz="2400" dirty="0" err="1">
                <a:hlinkClick r:id="rId5"/>
              </a:rPr>
              <a:t>github</a:t>
            </a:r>
            <a:r>
              <a:rPr lang="en-US" sz="2400" dirty="0">
                <a:hlinkClick r:id="rId5"/>
              </a:rPr>
              <a:t> page.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75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222234"/>
            <a:ext cx="12191144" cy="800164"/>
            <a:chOff x="0" y="366480"/>
            <a:chExt cx="20104100" cy="1319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6480"/>
              <a:ext cx="20104099" cy="13193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6481"/>
              <a:ext cx="20104099" cy="1235564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975202" y="2431880"/>
            <a:ext cx="4006873" cy="4203886"/>
          </a:xfrm>
          <a:custGeom>
            <a:avLst/>
            <a:gdLst/>
            <a:ahLst/>
            <a:cxnLst/>
            <a:rect l="l" t="t" r="r" b="b"/>
            <a:pathLst>
              <a:path w="5183505" h="6638925">
                <a:moveTo>
                  <a:pt x="5183088" y="0"/>
                </a:moveTo>
                <a:lnTo>
                  <a:pt x="0" y="0"/>
                </a:lnTo>
                <a:lnTo>
                  <a:pt x="0" y="6638541"/>
                </a:lnTo>
                <a:lnTo>
                  <a:pt x="5183088" y="6638541"/>
                </a:lnTo>
                <a:lnTo>
                  <a:pt x="5183088" y="0"/>
                </a:lnTo>
                <a:close/>
              </a:path>
            </a:pathLst>
          </a:custGeom>
          <a:solidFill>
            <a:srgbClr val="530909"/>
          </a:solidFill>
        </p:spPr>
        <p:txBody>
          <a:bodyPr wrap="square" lIns="0" tIns="0" rIns="0" bIns="0" rtlCol="0"/>
          <a:lstStyle/>
          <a:p>
            <a:endParaRPr sz="849" dirty="0"/>
          </a:p>
        </p:txBody>
      </p:sp>
      <p:sp>
        <p:nvSpPr>
          <p:cNvPr id="10" name="object 10"/>
          <p:cNvSpPr/>
          <p:nvPr/>
        </p:nvSpPr>
        <p:spPr>
          <a:xfrm>
            <a:off x="6634338" y="2431880"/>
            <a:ext cx="4006872" cy="4203885"/>
          </a:xfrm>
          <a:custGeom>
            <a:avLst/>
            <a:gdLst/>
            <a:ahLst/>
            <a:cxnLst/>
            <a:rect l="l" t="t" r="r" b="b"/>
            <a:pathLst>
              <a:path w="5874384" h="6638925">
                <a:moveTo>
                  <a:pt x="5874166" y="0"/>
                </a:moveTo>
                <a:lnTo>
                  <a:pt x="0" y="0"/>
                </a:lnTo>
                <a:lnTo>
                  <a:pt x="0" y="6638541"/>
                </a:lnTo>
                <a:lnTo>
                  <a:pt x="5874166" y="6638541"/>
                </a:lnTo>
                <a:lnTo>
                  <a:pt x="5874166" y="0"/>
                </a:lnTo>
                <a:close/>
              </a:path>
            </a:pathLst>
          </a:custGeom>
          <a:solidFill>
            <a:srgbClr val="530909"/>
          </a:solidFill>
        </p:spPr>
        <p:txBody>
          <a:bodyPr wrap="square" lIns="0" tIns="0" rIns="0" bIns="0" rtlCol="0"/>
          <a:lstStyle/>
          <a:p>
            <a:endParaRPr sz="849"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167" y="395848"/>
            <a:ext cx="7581621" cy="45347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276984" y="880406"/>
            <a:ext cx="7919622" cy="1638450"/>
            <a:chOff x="0" y="1465923"/>
            <a:chExt cx="13060044" cy="27019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4113" y="2146531"/>
              <a:ext cx="6015872" cy="134027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465923"/>
              <a:ext cx="7036434" cy="270148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F68BDD1-183B-FCD3-1703-E245ECACB4FD}"/>
              </a:ext>
            </a:extLst>
          </p:cNvPr>
          <p:cNvSpPr txBox="1"/>
          <p:nvPr/>
        </p:nvSpPr>
        <p:spPr>
          <a:xfrm>
            <a:off x="2313167" y="2638509"/>
            <a:ext cx="340546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Most User Friendly. Less flexible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Navigates static webpages. Not able to interact with webpage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E683B9-7D57-CAB5-F46C-F3FFDCA3C160}"/>
              </a:ext>
            </a:extLst>
          </p:cNvPr>
          <p:cNvSpPr txBox="1"/>
          <p:nvPr/>
        </p:nvSpPr>
        <p:spPr>
          <a:xfrm>
            <a:off x="6861245" y="2638509"/>
            <a:ext cx="35530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More complex, but greater flexibility.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Navigates webpage interactively. Allows clicking, entering text, etc.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BA202-DA94-4745-A263-7ABAADBA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7590-5287-7CD4-2124-0AFEC7731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github</a:t>
            </a:r>
            <a:r>
              <a:rPr lang="en-US">
                <a:hlinkClick r:id="rId2"/>
              </a:rPr>
              <a:t> page.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5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E76C8-A900-0412-9852-630FE129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499CFB-1CA3-A810-7206-7AB995B0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50" y="412312"/>
            <a:ext cx="115701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982B7-43C0-6CFC-2A24-85936CAE2461}"/>
              </a:ext>
            </a:extLst>
          </p:cNvPr>
          <p:cNvSpPr txBox="1"/>
          <p:nvPr/>
        </p:nvSpPr>
        <p:spPr>
          <a:xfrm>
            <a:off x="589547" y="1242491"/>
            <a:ext cx="11153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 descr="A qr code on a blue background&#10;&#10;AI-generated content may be incorrect.">
            <a:extLst>
              <a:ext uri="{FF2B5EF4-FFF2-40B4-BE49-F238E27FC236}">
                <a16:creationId xmlns:a16="http://schemas.microsoft.com/office/drawing/2014/main" id="{4EC4F972-4492-7911-6056-1260285D9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26" y="233053"/>
            <a:ext cx="6624947" cy="662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0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119</Words>
  <Application>Microsoft Macintosh PowerPoint</Application>
  <PresentationFormat>Widescreen</PresentationFormat>
  <Paragraphs>19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Helvetica Neue</vt:lpstr>
      <vt:lpstr>Times</vt:lpstr>
      <vt:lpstr>Verdana</vt:lpstr>
      <vt:lpstr>Office Theme</vt:lpstr>
      <vt:lpstr>Setting Up Selenium for Web Scraping in Python or R</vt:lpstr>
      <vt:lpstr>Outline</vt:lpstr>
      <vt:lpstr>PowerPoint Presentation</vt:lpstr>
      <vt:lpstr>Github Page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R Grippin</dc:creator>
  <cp:lastModifiedBy>Jacob R Grippin</cp:lastModifiedBy>
  <cp:revision>7</cp:revision>
  <dcterms:created xsi:type="dcterms:W3CDTF">2025-07-24T15:01:06Z</dcterms:created>
  <dcterms:modified xsi:type="dcterms:W3CDTF">2026-03-03T16:24:12Z</dcterms:modified>
</cp:coreProperties>
</file>